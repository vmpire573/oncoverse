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5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46304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OncoVerse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27432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>
                <a:solidFill>
                  <a:srgbClr val="DCE6FF"/>
                </a:solidFill>
              </a:defRPr>
            </a:pPr>
            <a:r>
              <a:t>AI-Powered Multi-Cancer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40233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DCF5"/>
                </a:solidFill>
              </a:defRPr>
            </a:pPr>
            <a:r>
              <a:t>Research implementation · real cohorts · published pan-cancer evidence · explainable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848"/>
                </a:solidFill>
              </a:defRPr>
            </a:pPr>
            <a:r>
              <a:t>Problem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D41"/>
                </a:solidFill>
              </a:defRPr>
            </a:pPr>
            <a:r>
              <a:t>Cancer research data are fragmented across cohorts, biomarker studies and clinical resources.</a:t>
            </a:r>
          </a:p>
          <a:p>
            <a:pPr>
              <a:spcAft>
                <a:spcPts val="1200"/>
              </a:spcAft>
              <a:defRPr sz="2000">
                <a:solidFill>
                  <a:srgbClr val="232D41"/>
                </a:solidFill>
              </a:defRPr>
            </a:pPr>
            <a:r>
              <a:t>An academic platform must harmonize data while preserving provenance and avoiding unsupported clinical claims.</a:t>
            </a:r>
          </a:p>
          <a:p>
            <a:pPr>
              <a:spcAft>
                <a:spcPts val="1200"/>
              </a:spcAft>
              <a:defRPr sz="2000">
                <a:solidFill>
                  <a:srgbClr val="232D41"/>
                </a:solidFill>
              </a:defRPr>
            </a:pPr>
            <a:r>
              <a:t>OncoVerse separates published multi-cancer evidence from patient-level models trained on bundled real cohorts.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848"/>
                </a:solidFill>
              </a:defRPr>
            </a:pPr>
            <a:r>
              <a:t>Multi-Cancer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D41"/>
                </a:solidFill>
              </a:defRPr>
            </a:pPr>
            <a:r>
              <a:t>CancerSEEK published cohort: 1,005 cancer patients + 812 healthy controls.</a:t>
            </a:r>
          </a:p>
          <a:p>
            <a:pPr>
              <a:spcAft>
                <a:spcPts val="1200"/>
              </a:spcAft>
              <a:defRPr sz="2000">
                <a:solidFill>
                  <a:srgbClr val="232D41"/>
                </a:solidFill>
              </a:defRPr>
            </a:pPr>
            <a:r>
              <a:t>Eight cancer types: breast, colorectum, esophagus, liver, lung, ovary, pancreas and stomach.</a:t>
            </a:r>
          </a:p>
          <a:p>
            <a:pPr>
              <a:spcAft>
                <a:spcPts val="1200"/>
              </a:spcAft>
              <a:defRPr sz="2000">
                <a:solidFill>
                  <a:srgbClr val="232D41"/>
                </a:solidFill>
              </a:defRPr>
            </a:pPr>
            <a:r>
              <a:t>39 protein biomarkers were evaluated in the source study.</a:t>
            </a:r>
          </a:p>
          <a:p>
            <a:pPr>
              <a:spcAft>
                <a:spcPts val="1200"/>
              </a:spcAft>
              <a:defRPr sz="2000">
                <a:solidFill>
                  <a:srgbClr val="232D41"/>
                </a:solidFill>
              </a:defRPr>
            </a:pPr>
            <a:r>
              <a:t>Published benchmark: 70% median detection sensitivity, &gt;99% specificity, 83% two-site localization, 63% single-site localization.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848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D41"/>
                </a:solidFill>
              </a:defRPr>
            </a:pPr>
            <a:r>
              <a:t>Published evidence layer → eight-cancer cohort, stage and demographic views.</a:t>
            </a:r>
          </a:p>
          <a:p>
            <a:pPr>
              <a:spcAft>
                <a:spcPts val="1200"/>
              </a:spcAft>
              <a:defRPr sz="2000">
                <a:solidFill>
                  <a:srgbClr val="232D41"/>
                </a:solidFill>
              </a:defRPr>
            </a:pPr>
            <a:r>
              <a:t>Real cohort layer → Wisconsin Diagnostic + METABRIC.</a:t>
            </a:r>
          </a:p>
          <a:p>
            <a:pPr>
              <a:spcAft>
                <a:spcPts val="1200"/>
              </a:spcAft>
              <a:defRPr sz="2000">
                <a:solidFill>
                  <a:srgbClr val="232D41"/>
                </a:solidFill>
              </a:defRPr>
            </a:pPr>
            <a:r>
              <a:t>ETL → validation → XGBoost → held-out evaluation → SHAP → Streamlit / FastAPI.</a:t>
            </a:r>
          </a:p>
          <a:p>
            <a:pPr>
              <a:spcAft>
                <a:spcPts val="1200"/>
              </a:spcAft>
              <a:defRPr sz="2000">
                <a:solidFill>
                  <a:srgbClr val="232D41"/>
                </a:solidFill>
              </a:defRPr>
            </a:pPr>
            <a:r>
              <a:t>Survival → observed METABRIC follow-up → Kaplan–Meier + held-out Cox evaluation.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848"/>
                </a:solidFill>
              </a:defRPr>
            </a:pPr>
            <a:r>
              <a:t>Data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D41"/>
                </a:solidFill>
              </a:defRPr>
            </a:pPr>
            <a:r>
              <a:t>Canonical ingestion and provenance-aware ETL are retained from the real-data project.</a:t>
            </a:r>
          </a:p>
          <a:p>
            <a:pPr>
              <a:spcAft>
                <a:spcPts val="1200"/>
              </a:spcAft>
              <a:defRPr sz="2000">
                <a:solidFill>
                  <a:srgbClr val="232D41"/>
                </a:solidFill>
              </a:defRPr>
            </a:pPr>
            <a:r>
              <a:t>Wisconsin and METABRIC source files are bundled for offline presentation execution.</a:t>
            </a:r>
          </a:p>
          <a:p>
            <a:pPr>
              <a:spcAft>
                <a:spcPts val="1200"/>
              </a:spcAft>
              <a:defRPr sz="2000">
                <a:solidFill>
                  <a:srgbClr val="232D41"/>
                </a:solidFill>
              </a:defRPr>
            </a:pPr>
            <a:r>
              <a:t>CancerSEEK individual-level supplementary observations are not fabricated when unavailable.</a:t>
            </a:r>
          </a:p>
          <a:p>
            <a:pPr>
              <a:spcAft>
                <a:spcPts val="1200"/>
              </a:spcAft>
              <a:defRPr sz="2000">
                <a:solidFill>
                  <a:srgbClr val="232D41"/>
                </a:solidFill>
              </a:defRPr>
            </a:pPr>
            <a:r>
              <a:t>Dataset source and redistribution terms remain explicit.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848"/>
                </a:solidFill>
              </a:defRPr>
            </a:pPr>
            <a:r>
              <a:t>Real ML Results — Wisconsin Diagnostic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D41"/>
                </a:solidFill>
              </a:defRPr>
            </a:pPr>
            <a:r>
              <a:t>Accuracy: 0.965 · ROC-AUC: 0.995</a:t>
            </a:r>
          </a:p>
          <a:p>
            <a:pPr>
              <a:spcAft>
                <a:spcPts val="1200"/>
              </a:spcAft>
              <a:defRPr sz="2000">
                <a:solidFill>
                  <a:srgbClr val="232D41"/>
                </a:solidFill>
              </a:defRPr>
            </a:pPr>
            <a:r>
              <a:t>Precision: 1.000 · Recall: 0.905 · F1: 0.950</a:t>
            </a:r>
          </a:p>
          <a:p>
            <a:pPr>
              <a:spcAft>
                <a:spcPts val="1200"/>
              </a:spcAft>
              <a:defRPr sz="2000">
                <a:solidFill>
                  <a:srgbClr val="232D41"/>
                </a:solidFill>
              </a:defRPr>
            </a:pPr>
            <a:r>
              <a:t>Majority-class baseline accuracy: 0.632</a:t>
            </a:r>
          </a:p>
          <a:p>
            <a:pPr>
              <a:spcAft>
                <a:spcPts val="1200"/>
              </a:spcAft>
              <a:defRPr sz="2000">
                <a:solidFill>
                  <a:srgbClr val="232D41"/>
                </a:solidFill>
              </a:defRPr>
            </a:pPr>
            <a:r>
              <a:t>20% stratified holdout; model output is a research classification, not a diagnosis.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848"/>
                </a:solidFill>
              </a:defRPr>
            </a:pPr>
            <a:r>
              <a:t>Real ML Results — METABRIC 5-Year Endpoint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D41"/>
                </a:solidFill>
              </a:defRPr>
            </a:pPr>
            <a:r>
              <a:t>Records used: 1,917 · 5-year event observations: 427</a:t>
            </a:r>
          </a:p>
          <a:p>
            <a:pPr>
              <a:spcAft>
                <a:spcPts val="1200"/>
              </a:spcAft>
              <a:defRPr sz="2000">
                <a:solidFill>
                  <a:srgbClr val="232D41"/>
                </a:solidFill>
              </a:defRPr>
            </a:pPr>
            <a:r>
              <a:t>Accuracy: 0.714 · ROC-AUC: 0.738</a:t>
            </a:r>
          </a:p>
          <a:p>
            <a:pPr>
              <a:spcAft>
                <a:spcPts val="1200"/>
              </a:spcAft>
              <a:defRPr sz="2000">
                <a:solidFill>
                  <a:srgbClr val="232D41"/>
                </a:solidFill>
              </a:defRPr>
            </a:pPr>
            <a:r>
              <a:t>Precision: 0.400 · Recall: 0.558 · F1: 0.466</a:t>
            </a:r>
          </a:p>
          <a:p>
            <a:pPr>
              <a:spcAft>
                <a:spcPts val="1200"/>
              </a:spcAft>
              <a:defRPr sz="2000">
                <a:solidFill>
                  <a:srgbClr val="232D41"/>
                </a:solidFill>
              </a:defRPr>
            </a:pPr>
            <a:r>
              <a:t>Majority-class baseline is 0.776 on the test partition; the endpoint is a research construct from observed follow-up.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848"/>
                </a:solidFill>
              </a:defRPr>
            </a:pPr>
            <a:r>
              <a:t>Survival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D41"/>
                </a:solidFill>
              </a:defRPr>
            </a:pPr>
            <a:r>
              <a:t>METABRIC records analyzed: 1,981 · observed deaths: 1,144</a:t>
            </a:r>
          </a:p>
          <a:p>
            <a:pPr>
              <a:spcAft>
                <a:spcPts val="1200"/>
              </a:spcAft>
              <a:defRPr sz="2000">
                <a:solidFill>
                  <a:srgbClr val="232D41"/>
                </a:solidFill>
              </a:defRPr>
            </a:pPr>
            <a:r>
              <a:t>Median observed follow-up: 116.5 months</a:t>
            </a:r>
          </a:p>
          <a:p>
            <a:pPr>
              <a:spcAft>
                <a:spcPts val="1200"/>
              </a:spcAft>
              <a:defRPr sz="2000">
                <a:solidFill>
                  <a:srgbClr val="232D41"/>
                </a:solidFill>
              </a:defRPr>
            </a:pPr>
            <a:r>
              <a:t>Held-out Cox C-index: 0.539</a:t>
            </a:r>
          </a:p>
          <a:p>
            <a:pPr>
              <a:spcAft>
                <a:spcPts val="1200"/>
              </a:spcAft>
              <a:defRPr sz="2000">
                <a:solidFill>
                  <a:srgbClr val="232D41"/>
                </a:solidFill>
              </a:defRPr>
            </a:pPr>
            <a:r>
              <a:t>Kaplan–Meier uses observed follow-up. Cox features avoid direct Nottingham-index redundancy.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848"/>
                </a:solidFill>
              </a:defRPr>
            </a:pPr>
            <a:r>
              <a:t>Explainability &amp; Presentation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D41"/>
                </a:solidFill>
              </a:defRPr>
            </a:pPr>
            <a:r>
              <a:t>Manual feature entry only — no hidden example patient and no displayed ground-truth label.</a:t>
            </a:r>
          </a:p>
          <a:p>
            <a:pPr>
              <a:spcAft>
                <a:spcPts val="1200"/>
              </a:spcAft>
              <a:defRPr sz="2000">
                <a:solidFill>
                  <a:srgbClr val="232D41"/>
                </a:solidFill>
              </a:defRPr>
            </a:pPr>
            <a:r>
              <a:t>Individual SHAP contributions explain the trained model output; they are not causal explanations.</a:t>
            </a:r>
          </a:p>
          <a:p>
            <a:pPr>
              <a:spcAft>
                <a:spcPts val="1200"/>
              </a:spcAft>
              <a:defRPr sz="2000">
                <a:solidFill>
                  <a:srgbClr val="232D41"/>
                </a:solidFill>
              </a:defRPr>
            </a:pPr>
            <a:r>
              <a:t>Pan-cancer tab shows source-derived evidence; AI Prediction tab shows only OncoVerse-trained real-cohort outputs.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848"/>
                </a:solidFill>
              </a:defRPr>
            </a:pPr>
            <a:r>
              <a:t>Limitations &amp; Responsible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D41"/>
                </a:solidFill>
              </a:defRPr>
            </a:pPr>
            <a:r>
              <a:t>OncoVerse is academic/research software, not a clinical device.</a:t>
            </a:r>
          </a:p>
          <a:p>
            <a:pPr>
              <a:spcAft>
                <a:spcPts val="1200"/>
              </a:spcAft>
              <a:defRPr sz="2000">
                <a:solidFill>
                  <a:srgbClr val="232D41"/>
                </a:solidFill>
              </a:defRPr>
            </a:pPr>
            <a:r>
              <a:t>Published CancerSEEK metrics are not OncoVerse validation metrics.</a:t>
            </a:r>
          </a:p>
          <a:p>
            <a:pPr>
              <a:spcAft>
                <a:spcPts val="1200"/>
              </a:spcAft>
              <a:defRPr sz="2000">
                <a:solidFill>
                  <a:srgbClr val="232D41"/>
                </a:solidFill>
              </a:defRPr>
            </a:pPr>
            <a:r>
              <a:t>The current bundled patient-level models are breast-focused; eight-cancer patient-level training requires the individual CancerSEEK dataset.</a:t>
            </a:r>
          </a:p>
          <a:p>
            <a:pPr>
              <a:spcAft>
                <a:spcPts val="1200"/>
              </a:spcAft>
              <a:defRPr sz="2000">
                <a:solidFill>
                  <a:srgbClr val="232D41"/>
                </a:solidFill>
              </a:defRPr>
            </a:pPr>
            <a:r>
              <a:t>No treatment, screening or individualized clinical-risk recommendation is produced.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848"/>
                </a:solidFill>
              </a:defRPr>
            </a:pPr>
            <a:r>
              <a:t>Demo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D41"/>
                </a:solidFill>
              </a:defRPr>
            </a:pPr>
            <a:r>
              <a:t>python scripts/train_real_models.py --wisconsin data/raw/wisconsin/breast_cancer_wisconsin_diagnostic.csv --metabric "data/raw/metabric/Breast Cancer METABRIC.csv"</a:t>
            </a:r>
          </a:p>
          <a:p>
            <a:pPr>
              <a:spcAft>
                <a:spcPts val="1200"/>
              </a:spcAft>
              <a:defRPr sz="2000">
                <a:solidFill>
                  <a:srgbClr val="232D41"/>
                </a:solidFill>
              </a:defRPr>
            </a:pPr>
            <a:r>
              <a:t>python scripts/verify_presentation_build.py</a:t>
            </a:r>
          </a:p>
          <a:p>
            <a:pPr>
              <a:spcAft>
                <a:spcPts val="1200"/>
              </a:spcAft>
              <a:defRPr sz="2000">
                <a:solidFill>
                  <a:srgbClr val="232D41"/>
                </a:solidFill>
              </a:defRPr>
            </a:pPr>
            <a:r>
              <a:t>python -m pytest -q</a:t>
            </a:r>
          </a:p>
          <a:p>
            <a:pPr>
              <a:spcAft>
                <a:spcPts val="1200"/>
              </a:spcAft>
              <a:defRPr sz="2000">
                <a:solidFill>
                  <a:srgbClr val="232D41"/>
                </a:solidFill>
              </a:defRPr>
            </a:pPr>
            <a:r>
              <a:t>python -m streamlit run dashboard/app.py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